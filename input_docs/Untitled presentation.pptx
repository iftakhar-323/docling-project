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99e806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b99e8060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99e80608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b99e80608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99e80608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b99e80608_1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99e80608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b99e80608_1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60" l="0" r="0" t="-670"/>
            </a:stretch>
          </a:blipFill>
          <a:ln>
            <a:noFill/>
          </a:ln>
        </p:spPr>
      </p:sp>
      <p:grpSp>
        <p:nvGrpSpPr>
          <p:cNvPr id="55" name="Google Shape;55;p13"/>
          <p:cNvGrpSpPr/>
          <p:nvPr/>
        </p:nvGrpSpPr>
        <p:grpSpPr>
          <a:xfrm>
            <a:off x="426897" y="4556817"/>
            <a:ext cx="8290478" cy="2600569"/>
            <a:chOff x="0" y="-38100"/>
            <a:chExt cx="4366857" cy="1369802"/>
          </a:xfrm>
        </p:grpSpPr>
        <p:sp>
          <p:nvSpPr>
            <p:cNvPr id="56" name="Google Shape;56;p13"/>
            <p:cNvSpPr/>
            <p:nvPr/>
          </p:nvSpPr>
          <p:spPr>
            <a:xfrm>
              <a:off x="0" y="0"/>
              <a:ext cx="4366857" cy="1331702"/>
            </a:xfrm>
            <a:custGeom>
              <a:rect b="b" l="l" r="r" t="t"/>
              <a:pathLst>
                <a:path extrusionOk="0" h="1331702" w="4366857">
                  <a:moveTo>
                    <a:pt x="46693" y="0"/>
                  </a:moveTo>
                  <a:lnTo>
                    <a:pt x="4320164" y="0"/>
                  </a:lnTo>
                  <a:cubicBezTo>
                    <a:pt x="4332548" y="0"/>
                    <a:pt x="4344424" y="4919"/>
                    <a:pt x="4353181" y="13676"/>
                  </a:cubicBezTo>
                  <a:cubicBezTo>
                    <a:pt x="4361938" y="22433"/>
                    <a:pt x="4366857" y="34309"/>
                    <a:pt x="4366857" y="46693"/>
                  </a:cubicBezTo>
                  <a:lnTo>
                    <a:pt x="4366857" y="1285009"/>
                  </a:lnTo>
                  <a:cubicBezTo>
                    <a:pt x="4366857" y="1297393"/>
                    <a:pt x="4361938" y="1309270"/>
                    <a:pt x="4353181" y="1318026"/>
                  </a:cubicBezTo>
                  <a:cubicBezTo>
                    <a:pt x="4344424" y="1326783"/>
                    <a:pt x="4332548" y="1331702"/>
                    <a:pt x="4320164" y="1331702"/>
                  </a:cubicBezTo>
                  <a:lnTo>
                    <a:pt x="46693" y="1331702"/>
                  </a:lnTo>
                  <a:cubicBezTo>
                    <a:pt x="34309" y="1331702"/>
                    <a:pt x="22433" y="1326783"/>
                    <a:pt x="13676" y="1318026"/>
                  </a:cubicBezTo>
                  <a:cubicBezTo>
                    <a:pt x="4919" y="1309270"/>
                    <a:pt x="0" y="1297393"/>
                    <a:pt x="0" y="1285009"/>
                  </a:cubicBezTo>
                  <a:lnTo>
                    <a:pt x="0" y="46693"/>
                  </a:lnTo>
                  <a:cubicBezTo>
                    <a:pt x="0" y="34309"/>
                    <a:pt x="4919" y="22433"/>
                    <a:pt x="13676" y="13676"/>
                  </a:cubicBezTo>
                  <a:cubicBezTo>
                    <a:pt x="22433" y="4919"/>
                    <a:pt x="34309" y="0"/>
                    <a:pt x="46693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ED0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-38100"/>
              <a:ext cx="43668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3"/>
          <p:cNvSpPr/>
          <p:nvPr/>
        </p:nvSpPr>
        <p:spPr>
          <a:xfrm>
            <a:off x="-1862702" y="2672210"/>
            <a:ext cx="4496015" cy="3838473"/>
          </a:xfrm>
          <a:custGeom>
            <a:rect b="b" l="l" r="r" t="t"/>
            <a:pathLst>
              <a:path extrusionOk="0" h="7676945" w="8992029">
                <a:moveTo>
                  <a:pt x="0" y="0"/>
                </a:moveTo>
                <a:lnTo>
                  <a:pt x="8992029" y="0"/>
                </a:lnTo>
                <a:lnTo>
                  <a:pt x="8992029" y="7676945"/>
                </a:lnTo>
                <a:lnTo>
                  <a:pt x="0" y="7676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" name="Google Shape;59;p13"/>
          <p:cNvSpPr/>
          <p:nvPr/>
        </p:nvSpPr>
        <p:spPr>
          <a:xfrm>
            <a:off x="6469095" y="-1367183"/>
            <a:ext cx="4496015" cy="3838473"/>
          </a:xfrm>
          <a:custGeom>
            <a:rect b="b" l="l" r="r" t="t"/>
            <a:pathLst>
              <a:path extrusionOk="0" h="7676945" w="8992029">
                <a:moveTo>
                  <a:pt x="0" y="0"/>
                </a:moveTo>
                <a:lnTo>
                  <a:pt x="8992029" y="0"/>
                </a:lnTo>
                <a:lnTo>
                  <a:pt x="8992029" y="7676945"/>
                </a:lnTo>
                <a:lnTo>
                  <a:pt x="0" y="7676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" name="Google Shape;60;p13"/>
          <p:cNvGrpSpPr/>
          <p:nvPr/>
        </p:nvGrpSpPr>
        <p:grpSpPr>
          <a:xfrm>
            <a:off x="4082423" y="4407997"/>
            <a:ext cx="979234" cy="393786"/>
            <a:chOff x="0" y="-57150"/>
            <a:chExt cx="1152718" cy="463550"/>
          </a:xfrm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1152718" cy="406400"/>
            </a:xfrm>
            <a:custGeom>
              <a:rect b="b" l="l" r="r" t="t"/>
              <a:pathLst>
                <a:path extrusionOk="0" h="406400" w="1152718">
                  <a:moveTo>
                    <a:pt x="949518" y="0"/>
                  </a:moveTo>
                  <a:cubicBezTo>
                    <a:pt x="1061742" y="0"/>
                    <a:pt x="1152718" y="90976"/>
                    <a:pt x="1152718" y="203200"/>
                  </a:cubicBezTo>
                  <a:cubicBezTo>
                    <a:pt x="1152718" y="315424"/>
                    <a:pt x="1061742" y="406400"/>
                    <a:pt x="9495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ED0DA"/>
                </a:gs>
                <a:gs pos="100000">
                  <a:srgbClr val="20D5A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0" y="-57150"/>
              <a:ext cx="11526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3"/>
          <p:cNvSpPr txBox="1"/>
          <p:nvPr/>
        </p:nvSpPr>
        <p:spPr>
          <a:xfrm>
            <a:off x="1477046" y="1837916"/>
            <a:ext cx="6189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INTERNET OF THINGS (IOT):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CONNECTING THE PHYSICAL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AND DIGITAL WORLD</a:t>
            </a:r>
            <a:endParaRPr sz="700"/>
          </a:p>
        </p:txBody>
      </p:sp>
      <p:sp>
        <p:nvSpPr>
          <p:cNvPr id="64" name="Google Shape;64;p13"/>
          <p:cNvSpPr txBox="1"/>
          <p:nvPr/>
        </p:nvSpPr>
        <p:spPr>
          <a:xfrm>
            <a:off x="3737100" y="424656"/>
            <a:ext cx="665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COURSE: ADVANCED NETWORKING</a:t>
            </a:r>
            <a:endParaRPr sz="700"/>
          </a:p>
        </p:txBody>
      </p:sp>
      <p:sp>
        <p:nvSpPr>
          <p:cNvPr id="65" name="Google Shape;65;p13"/>
          <p:cNvSpPr txBox="1"/>
          <p:nvPr/>
        </p:nvSpPr>
        <p:spPr>
          <a:xfrm>
            <a:off x="4946372" y="424656"/>
            <a:ext cx="665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UNIVERSITY OF TECHNOLOGY</a:t>
            </a:r>
            <a:endParaRPr sz="700"/>
          </a:p>
        </p:txBody>
      </p:sp>
      <p:sp>
        <p:nvSpPr>
          <p:cNvPr id="66" name="Google Shape;66;p13"/>
          <p:cNvSpPr txBox="1"/>
          <p:nvPr/>
        </p:nvSpPr>
        <p:spPr>
          <a:xfrm>
            <a:off x="6154487" y="424656"/>
            <a:ext cx="66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700"/>
          </a:p>
        </p:txBody>
      </p:sp>
      <p:sp>
        <p:nvSpPr>
          <p:cNvPr id="67" name="Google Shape;67;p13"/>
          <p:cNvSpPr txBox="1"/>
          <p:nvPr/>
        </p:nvSpPr>
        <p:spPr>
          <a:xfrm>
            <a:off x="4194116" y="4539457"/>
            <a:ext cx="755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PAGE 1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0" y="41592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60" l="0" r="0" t="-670"/>
            </a:stretch>
          </a:blipFill>
          <a:ln>
            <a:noFill/>
          </a:ln>
        </p:spPr>
      </p:sp>
      <p:grpSp>
        <p:nvGrpSpPr>
          <p:cNvPr id="73" name="Google Shape;73;p14"/>
          <p:cNvGrpSpPr/>
          <p:nvPr/>
        </p:nvGrpSpPr>
        <p:grpSpPr>
          <a:xfrm>
            <a:off x="426897" y="4598409"/>
            <a:ext cx="8290478" cy="2600569"/>
            <a:chOff x="0" y="-38100"/>
            <a:chExt cx="4366857" cy="1369802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4366857" cy="1331702"/>
            </a:xfrm>
            <a:custGeom>
              <a:rect b="b" l="l" r="r" t="t"/>
              <a:pathLst>
                <a:path extrusionOk="0" h="1331702" w="4366857">
                  <a:moveTo>
                    <a:pt x="46693" y="0"/>
                  </a:moveTo>
                  <a:lnTo>
                    <a:pt x="4320164" y="0"/>
                  </a:lnTo>
                  <a:cubicBezTo>
                    <a:pt x="4332548" y="0"/>
                    <a:pt x="4344424" y="4919"/>
                    <a:pt x="4353181" y="13676"/>
                  </a:cubicBezTo>
                  <a:cubicBezTo>
                    <a:pt x="4361938" y="22433"/>
                    <a:pt x="4366857" y="34309"/>
                    <a:pt x="4366857" y="46693"/>
                  </a:cubicBezTo>
                  <a:lnTo>
                    <a:pt x="4366857" y="1285009"/>
                  </a:lnTo>
                  <a:cubicBezTo>
                    <a:pt x="4366857" y="1297393"/>
                    <a:pt x="4361938" y="1309270"/>
                    <a:pt x="4353181" y="1318026"/>
                  </a:cubicBezTo>
                  <a:cubicBezTo>
                    <a:pt x="4344424" y="1326783"/>
                    <a:pt x="4332548" y="1331702"/>
                    <a:pt x="4320164" y="1331702"/>
                  </a:cubicBezTo>
                  <a:lnTo>
                    <a:pt x="46693" y="1331702"/>
                  </a:lnTo>
                  <a:cubicBezTo>
                    <a:pt x="34309" y="1331702"/>
                    <a:pt x="22433" y="1326783"/>
                    <a:pt x="13676" y="1318026"/>
                  </a:cubicBezTo>
                  <a:cubicBezTo>
                    <a:pt x="4919" y="1309270"/>
                    <a:pt x="0" y="1297393"/>
                    <a:pt x="0" y="1285009"/>
                  </a:cubicBezTo>
                  <a:lnTo>
                    <a:pt x="0" y="46693"/>
                  </a:lnTo>
                  <a:cubicBezTo>
                    <a:pt x="0" y="34309"/>
                    <a:pt x="4919" y="22433"/>
                    <a:pt x="13676" y="13676"/>
                  </a:cubicBezTo>
                  <a:cubicBezTo>
                    <a:pt x="22433" y="4919"/>
                    <a:pt x="34309" y="0"/>
                    <a:pt x="46693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ED0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0" y="-38100"/>
              <a:ext cx="43668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4"/>
          <p:cNvSpPr/>
          <p:nvPr/>
        </p:nvSpPr>
        <p:spPr>
          <a:xfrm>
            <a:off x="-1660918" y="3139979"/>
            <a:ext cx="3406970" cy="2785198"/>
          </a:xfrm>
          <a:custGeom>
            <a:rect b="b" l="l" r="r" t="t"/>
            <a:pathLst>
              <a:path extrusionOk="0" h="5570396" w="6813940">
                <a:moveTo>
                  <a:pt x="0" y="0"/>
                </a:moveTo>
                <a:lnTo>
                  <a:pt x="6813941" y="0"/>
                </a:lnTo>
                <a:lnTo>
                  <a:pt x="6813941" y="5570397"/>
                </a:lnTo>
                <a:lnTo>
                  <a:pt x="0" y="5570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14"/>
          <p:cNvSpPr/>
          <p:nvPr/>
        </p:nvSpPr>
        <p:spPr>
          <a:xfrm>
            <a:off x="7185124" y="-782548"/>
            <a:ext cx="3232343" cy="2759613"/>
          </a:xfrm>
          <a:custGeom>
            <a:rect b="b" l="l" r="r" t="t"/>
            <a:pathLst>
              <a:path extrusionOk="0" h="5519225" w="6464685">
                <a:moveTo>
                  <a:pt x="0" y="0"/>
                </a:moveTo>
                <a:lnTo>
                  <a:pt x="6464685" y="0"/>
                </a:lnTo>
                <a:lnTo>
                  <a:pt x="6464685" y="5519225"/>
                </a:lnTo>
                <a:lnTo>
                  <a:pt x="0" y="5519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14"/>
          <p:cNvSpPr/>
          <p:nvPr/>
        </p:nvSpPr>
        <p:spPr>
          <a:xfrm>
            <a:off x="-959419" y="-1623347"/>
            <a:ext cx="4496015" cy="3838473"/>
          </a:xfrm>
          <a:custGeom>
            <a:rect b="b" l="l" r="r" t="t"/>
            <a:pathLst>
              <a:path extrusionOk="0" h="7676945" w="8992029">
                <a:moveTo>
                  <a:pt x="0" y="0"/>
                </a:moveTo>
                <a:lnTo>
                  <a:pt x="8992029" y="0"/>
                </a:lnTo>
                <a:lnTo>
                  <a:pt x="8992029" y="7676945"/>
                </a:lnTo>
                <a:lnTo>
                  <a:pt x="0" y="7676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p14"/>
          <p:cNvSpPr/>
          <p:nvPr/>
        </p:nvSpPr>
        <p:spPr>
          <a:xfrm>
            <a:off x="6381642" y="2613342"/>
            <a:ext cx="4496015" cy="3838472"/>
          </a:xfrm>
          <a:custGeom>
            <a:rect b="b" l="l" r="r" t="t"/>
            <a:pathLst>
              <a:path extrusionOk="0" h="7676945" w="8992029">
                <a:moveTo>
                  <a:pt x="0" y="0"/>
                </a:moveTo>
                <a:lnTo>
                  <a:pt x="8992030" y="0"/>
                </a:lnTo>
                <a:lnTo>
                  <a:pt x="8992030" y="7676945"/>
                </a:lnTo>
                <a:lnTo>
                  <a:pt x="0" y="7676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" name="Google Shape;80;p14"/>
          <p:cNvGrpSpPr/>
          <p:nvPr/>
        </p:nvGrpSpPr>
        <p:grpSpPr>
          <a:xfrm>
            <a:off x="5252249" y="1774362"/>
            <a:ext cx="1807992" cy="1807992"/>
            <a:chOff x="0" y="0"/>
            <a:chExt cx="812800" cy="812800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ED0DA"/>
                </a:gs>
                <a:gs pos="100000">
                  <a:srgbClr val="20D5A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14"/>
          <p:cNvSpPr txBox="1"/>
          <p:nvPr/>
        </p:nvSpPr>
        <p:spPr>
          <a:xfrm>
            <a:off x="659603" y="854560"/>
            <a:ext cx="3410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20D5A2"/>
                </a:solidFill>
                <a:latin typeface="Arial"/>
                <a:ea typeface="Arial"/>
                <a:cs typeface="Arial"/>
                <a:sym typeface="Arial"/>
              </a:rPr>
              <a:t>What is IoT?</a:t>
            </a:r>
            <a:endParaRPr sz="3500"/>
          </a:p>
        </p:txBody>
      </p:sp>
      <p:sp>
        <p:nvSpPr>
          <p:cNvPr id="84" name="Google Shape;84;p14"/>
          <p:cNvSpPr txBox="1"/>
          <p:nvPr/>
        </p:nvSpPr>
        <p:spPr>
          <a:xfrm>
            <a:off x="631875" y="2121585"/>
            <a:ext cx="31962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Physical objects embedded with sensors, software &amp; connectivity to exchange data over the internet. Term coined by Kevin Ashton, MIT, 1999. 15.9B connected devices in 2023 → 29.4B by 2030.</a:t>
            </a:r>
            <a:endParaRPr sz="1500"/>
          </a:p>
        </p:txBody>
      </p:sp>
      <p:sp>
        <p:nvSpPr>
          <p:cNvPr id="85" name="Google Shape;85;p14"/>
          <p:cNvSpPr/>
          <p:nvPr/>
        </p:nvSpPr>
        <p:spPr>
          <a:xfrm>
            <a:off x="5897405" y="2079765"/>
            <a:ext cx="530782" cy="535467"/>
          </a:xfrm>
          <a:custGeom>
            <a:rect b="b" l="l" r="r" t="t"/>
            <a:pathLst>
              <a:path extrusionOk="0" h="1070934" w="1061563">
                <a:moveTo>
                  <a:pt x="0" y="0"/>
                </a:moveTo>
                <a:lnTo>
                  <a:pt x="1061563" y="0"/>
                </a:lnTo>
                <a:lnTo>
                  <a:pt x="1061563" y="1070934"/>
                </a:lnTo>
                <a:lnTo>
                  <a:pt x="0" y="1070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4"/>
          <p:cNvSpPr txBox="1"/>
          <p:nvPr/>
        </p:nvSpPr>
        <p:spPr>
          <a:xfrm>
            <a:off x="5609046" y="2621352"/>
            <a:ext cx="10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700"/>
          </a:p>
          <a:p>
            <a:pPr indent="0" lvl="0" marL="0" marR="0" rtl="0" algn="ctr">
              <a:lnSpc>
                <a:spcPct val="11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Exchange</a:t>
            </a:r>
            <a:endParaRPr sz="700"/>
          </a:p>
        </p:txBody>
      </p:sp>
      <p:sp>
        <p:nvSpPr>
          <p:cNvPr id="87" name="Google Shape;87;p14"/>
          <p:cNvSpPr txBox="1"/>
          <p:nvPr/>
        </p:nvSpPr>
        <p:spPr>
          <a:xfrm>
            <a:off x="5643898" y="3133160"/>
            <a:ext cx="1024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data transmission</a:t>
            </a:r>
            <a:endParaRPr sz="700"/>
          </a:p>
        </p:txBody>
      </p:sp>
      <p:grpSp>
        <p:nvGrpSpPr>
          <p:cNvPr id="88" name="Google Shape;88;p14"/>
          <p:cNvGrpSpPr/>
          <p:nvPr/>
        </p:nvGrpSpPr>
        <p:grpSpPr>
          <a:xfrm>
            <a:off x="3828045" y="1966231"/>
            <a:ext cx="1424188" cy="1424188"/>
            <a:chOff x="0" y="0"/>
            <a:chExt cx="812800" cy="812800"/>
          </a:xfrm>
        </p:grpSpPr>
        <p:sp>
          <p:nvSpPr>
            <p:cNvPr id="89" name="Google Shape;8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1F1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4"/>
          <p:cNvSpPr/>
          <p:nvPr/>
        </p:nvSpPr>
        <p:spPr>
          <a:xfrm>
            <a:off x="4332922" y="2215131"/>
            <a:ext cx="414667" cy="413024"/>
          </a:xfrm>
          <a:custGeom>
            <a:rect b="b" l="l" r="r" t="t"/>
            <a:pathLst>
              <a:path extrusionOk="0" h="826047" w="829334">
                <a:moveTo>
                  <a:pt x="0" y="0"/>
                </a:moveTo>
                <a:lnTo>
                  <a:pt x="829334" y="0"/>
                </a:lnTo>
                <a:lnTo>
                  <a:pt x="829334" y="826047"/>
                </a:lnTo>
                <a:lnTo>
                  <a:pt x="0" y="826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4"/>
          <p:cNvSpPr txBox="1"/>
          <p:nvPr/>
        </p:nvSpPr>
        <p:spPr>
          <a:xfrm>
            <a:off x="4109111" y="2636479"/>
            <a:ext cx="8622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Smart</a:t>
            </a:r>
            <a:endParaRPr sz="700"/>
          </a:p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 sz="700"/>
          </a:p>
        </p:txBody>
      </p:sp>
      <p:sp>
        <p:nvSpPr>
          <p:cNvPr id="93" name="Google Shape;93;p14"/>
          <p:cNvSpPr txBox="1"/>
          <p:nvPr/>
        </p:nvSpPr>
        <p:spPr>
          <a:xfrm>
            <a:off x="4129634" y="3044314"/>
            <a:ext cx="80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Everyday devices become intelligent</a:t>
            </a:r>
            <a:endParaRPr sz="700"/>
          </a:p>
        </p:txBody>
      </p:sp>
      <p:grpSp>
        <p:nvGrpSpPr>
          <p:cNvPr id="94" name="Google Shape;94;p14"/>
          <p:cNvGrpSpPr/>
          <p:nvPr/>
        </p:nvGrpSpPr>
        <p:grpSpPr>
          <a:xfrm>
            <a:off x="7060192" y="1966231"/>
            <a:ext cx="1424188" cy="1424188"/>
            <a:chOff x="0" y="0"/>
            <a:chExt cx="812800" cy="8128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1F1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4"/>
          <p:cNvSpPr/>
          <p:nvPr/>
        </p:nvSpPr>
        <p:spPr>
          <a:xfrm>
            <a:off x="7564961" y="2171721"/>
            <a:ext cx="414667" cy="414667"/>
          </a:xfrm>
          <a:custGeom>
            <a:rect b="b" l="l" r="r" t="t"/>
            <a:pathLst>
              <a:path extrusionOk="0" h="829334" w="829334">
                <a:moveTo>
                  <a:pt x="0" y="0"/>
                </a:moveTo>
                <a:lnTo>
                  <a:pt x="829334" y="0"/>
                </a:lnTo>
                <a:lnTo>
                  <a:pt x="829334" y="829334"/>
                </a:lnTo>
                <a:lnTo>
                  <a:pt x="0" y="829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4"/>
          <p:cNvSpPr txBox="1"/>
          <p:nvPr/>
        </p:nvSpPr>
        <p:spPr>
          <a:xfrm>
            <a:off x="7341259" y="2636479"/>
            <a:ext cx="8622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Physical-</a:t>
            </a:r>
            <a:endParaRPr sz="700"/>
          </a:p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ED0DA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sz="700"/>
          </a:p>
        </p:txBody>
      </p:sp>
      <p:sp>
        <p:nvSpPr>
          <p:cNvPr id="99" name="Google Shape;99;p14"/>
          <p:cNvSpPr txBox="1"/>
          <p:nvPr/>
        </p:nvSpPr>
        <p:spPr>
          <a:xfrm>
            <a:off x="7368713" y="3044314"/>
            <a:ext cx="80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Bridges two worlds seamlessly</a:t>
            </a:r>
            <a:endParaRPr sz="700"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4082423" y="4449588"/>
            <a:ext cx="979234" cy="393786"/>
            <a:chOff x="0" y="-57150"/>
            <a:chExt cx="1152718" cy="463550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152718" cy="406400"/>
            </a:xfrm>
            <a:custGeom>
              <a:rect b="b" l="l" r="r" t="t"/>
              <a:pathLst>
                <a:path extrusionOk="0" h="406400" w="1152718">
                  <a:moveTo>
                    <a:pt x="949518" y="0"/>
                  </a:moveTo>
                  <a:cubicBezTo>
                    <a:pt x="1061742" y="0"/>
                    <a:pt x="1152718" y="90976"/>
                    <a:pt x="1152718" y="203200"/>
                  </a:cubicBezTo>
                  <a:cubicBezTo>
                    <a:pt x="1152718" y="315424"/>
                    <a:pt x="1061742" y="406400"/>
                    <a:pt x="9495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ED0DA"/>
                </a:gs>
                <a:gs pos="100000">
                  <a:srgbClr val="20D5A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57150"/>
              <a:ext cx="11526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4194116" y="4581048"/>
            <a:ext cx="755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PAGE 2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60" l="0" r="0" t="-670"/>
            </a:stretch>
          </a:blipFill>
          <a:ln>
            <a:noFill/>
          </a:ln>
        </p:spPr>
      </p:sp>
      <p:grpSp>
        <p:nvGrpSpPr>
          <p:cNvPr id="109" name="Google Shape;109;p15"/>
          <p:cNvGrpSpPr/>
          <p:nvPr/>
        </p:nvGrpSpPr>
        <p:grpSpPr>
          <a:xfrm>
            <a:off x="0" y="1255763"/>
            <a:ext cx="3123461" cy="2983433"/>
            <a:chOff x="0" y="-38100"/>
            <a:chExt cx="832923" cy="67500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832923" cy="636851"/>
            </a:xfrm>
            <a:custGeom>
              <a:rect b="b" l="l" r="r" t="t"/>
              <a:pathLst>
                <a:path extrusionOk="0" h="636851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0ECB99"/>
            </a:solidFill>
            <a:ln>
              <a:noFill/>
            </a:ln>
          </p:spPr>
        </p:sp>
        <p:sp>
          <p:nvSpPr>
            <p:cNvPr id="111" name="Google Shape;111;p15"/>
            <p:cNvSpPr txBox="1"/>
            <p:nvPr/>
          </p:nvSpPr>
          <p:spPr>
            <a:xfrm>
              <a:off x="0" y="-38100"/>
              <a:ext cx="8328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5928900" y="1272799"/>
            <a:ext cx="3215250" cy="2953935"/>
            <a:chOff x="0" y="-38100"/>
            <a:chExt cx="857400" cy="675000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857344" cy="636851"/>
            </a:xfrm>
            <a:custGeom>
              <a:rect b="b" l="l" r="r" t="t"/>
              <a:pathLst>
                <a:path extrusionOk="0" h="636851" w="857344">
                  <a:moveTo>
                    <a:pt x="0" y="0"/>
                  </a:moveTo>
                  <a:lnTo>
                    <a:pt x="857344" y="0"/>
                  </a:lnTo>
                  <a:lnTo>
                    <a:pt x="857344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5176FF"/>
            </a:solidFill>
            <a:ln>
              <a:noFill/>
            </a:ln>
          </p:spPr>
        </p:sp>
        <p:sp>
          <p:nvSpPr>
            <p:cNvPr id="114" name="Google Shape;114;p15"/>
            <p:cNvSpPr txBox="1"/>
            <p:nvPr/>
          </p:nvSpPr>
          <p:spPr>
            <a:xfrm>
              <a:off x="0" y="-38100"/>
              <a:ext cx="8574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15"/>
          <p:cNvSpPr txBox="1"/>
          <p:nvPr/>
        </p:nvSpPr>
        <p:spPr>
          <a:xfrm>
            <a:off x="1057066" y="417579"/>
            <a:ext cx="592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0ECB99"/>
                </a:solidFill>
                <a:latin typeface="Arial"/>
                <a:ea typeface="Arial"/>
                <a:cs typeface="Arial"/>
                <a:sym typeface="Arial"/>
              </a:rPr>
              <a:t>History &amp; Evolution of IoT</a:t>
            </a:r>
            <a:endParaRPr sz="3500"/>
          </a:p>
        </p:txBody>
      </p:sp>
      <p:grpSp>
        <p:nvGrpSpPr>
          <p:cNvPr id="116" name="Google Shape;116;p15"/>
          <p:cNvGrpSpPr/>
          <p:nvPr/>
        </p:nvGrpSpPr>
        <p:grpSpPr>
          <a:xfrm>
            <a:off x="3048000" y="1255769"/>
            <a:ext cx="3048000" cy="2983433"/>
            <a:chOff x="0" y="-38100"/>
            <a:chExt cx="812800" cy="675000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812800" cy="636851"/>
            </a:xfrm>
            <a:custGeom>
              <a:rect b="b" l="l" r="r" t="t"/>
              <a:pathLst>
                <a:path extrusionOk="0" h="6368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0ED0DA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38100"/>
              <a:ext cx="8127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277737" y="2320068"/>
            <a:ext cx="27702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1969–1999: Origins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1969: ARPANET — first networked computers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1982: CMU Coke Machine — first internet-connected device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1991: World Wide Web goes public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1999: Kevin Ashton coins "Internet of Things" at MIT</a:t>
            </a:r>
            <a:endParaRPr sz="1100"/>
          </a:p>
        </p:txBody>
      </p:sp>
      <p:sp>
        <p:nvSpPr>
          <p:cNvPr id="120" name="Google Shape;120;p15"/>
          <p:cNvSpPr txBox="1"/>
          <p:nvPr/>
        </p:nvSpPr>
        <p:spPr>
          <a:xfrm>
            <a:off x="3311873" y="2167563"/>
            <a:ext cx="27702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2000–2016: Growth Era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2007: iPhone launches — smartphones accelerate IoT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2011: IPv6 enables trillions of device addresses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2014: Amazon Echo — voice-controlled IoT enters homes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2016: Mirai Botnet hijacks 600,000+ IoT devices</a:t>
            </a:r>
            <a:endParaRPr sz="1100"/>
          </a:p>
        </p:txBody>
      </p:sp>
      <p:sp>
        <p:nvSpPr>
          <p:cNvPr id="121" name="Google Shape;121;p15"/>
          <p:cNvSpPr txBox="1"/>
          <p:nvPr/>
        </p:nvSpPr>
        <p:spPr>
          <a:xfrm>
            <a:off x="6373737" y="2153699"/>
            <a:ext cx="27702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2017–2030: Intelligent IoT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2020: 5G + Edge Computing deployed globally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2023: 15.9 billion connected devices worldwide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2025: TinyML &amp; AIoT — self-learning smart devices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2030: Quantum IoT Security + 29.4B devices projected</a:t>
            </a:r>
            <a:endParaRPr sz="1100"/>
          </a:p>
        </p:txBody>
      </p:sp>
      <p:sp>
        <p:nvSpPr>
          <p:cNvPr id="122" name="Google Shape;122;p15"/>
          <p:cNvSpPr txBox="1"/>
          <p:nvPr/>
        </p:nvSpPr>
        <p:spPr>
          <a:xfrm>
            <a:off x="277738" y="1441847"/>
            <a:ext cx="124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2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700"/>
          </a:p>
        </p:txBody>
      </p:sp>
      <p:sp>
        <p:nvSpPr>
          <p:cNvPr id="123" name="Google Shape;123;p15"/>
          <p:cNvSpPr txBox="1"/>
          <p:nvPr/>
        </p:nvSpPr>
        <p:spPr>
          <a:xfrm>
            <a:off x="3325742" y="1434519"/>
            <a:ext cx="124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2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700"/>
          </a:p>
        </p:txBody>
      </p:sp>
      <p:sp>
        <p:nvSpPr>
          <p:cNvPr id="124" name="Google Shape;124;p15"/>
          <p:cNvSpPr txBox="1"/>
          <p:nvPr/>
        </p:nvSpPr>
        <p:spPr>
          <a:xfrm>
            <a:off x="6433909" y="1441451"/>
            <a:ext cx="124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2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700"/>
          </a:p>
        </p:txBody>
      </p:sp>
      <p:grpSp>
        <p:nvGrpSpPr>
          <p:cNvPr id="125" name="Google Shape;125;p15"/>
          <p:cNvGrpSpPr/>
          <p:nvPr/>
        </p:nvGrpSpPr>
        <p:grpSpPr>
          <a:xfrm>
            <a:off x="426897" y="4556817"/>
            <a:ext cx="8290478" cy="2600569"/>
            <a:chOff x="0" y="-38100"/>
            <a:chExt cx="4366857" cy="1369802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4366857" cy="1331702"/>
            </a:xfrm>
            <a:custGeom>
              <a:rect b="b" l="l" r="r" t="t"/>
              <a:pathLst>
                <a:path extrusionOk="0" h="1331702" w="4366857">
                  <a:moveTo>
                    <a:pt x="46693" y="0"/>
                  </a:moveTo>
                  <a:lnTo>
                    <a:pt x="4320164" y="0"/>
                  </a:lnTo>
                  <a:cubicBezTo>
                    <a:pt x="4332548" y="0"/>
                    <a:pt x="4344424" y="4919"/>
                    <a:pt x="4353181" y="13676"/>
                  </a:cubicBezTo>
                  <a:cubicBezTo>
                    <a:pt x="4361938" y="22433"/>
                    <a:pt x="4366857" y="34309"/>
                    <a:pt x="4366857" y="46693"/>
                  </a:cubicBezTo>
                  <a:lnTo>
                    <a:pt x="4366857" y="1285009"/>
                  </a:lnTo>
                  <a:cubicBezTo>
                    <a:pt x="4366857" y="1297393"/>
                    <a:pt x="4361938" y="1309270"/>
                    <a:pt x="4353181" y="1318026"/>
                  </a:cubicBezTo>
                  <a:cubicBezTo>
                    <a:pt x="4344424" y="1326783"/>
                    <a:pt x="4332548" y="1331702"/>
                    <a:pt x="4320164" y="1331702"/>
                  </a:cubicBezTo>
                  <a:lnTo>
                    <a:pt x="46693" y="1331702"/>
                  </a:lnTo>
                  <a:cubicBezTo>
                    <a:pt x="34309" y="1331702"/>
                    <a:pt x="22433" y="1326783"/>
                    <a:pt x="13676" y="1318026"/>
                  </a:cubicBezTo>
                  <a:cubicBezTo>
                    <a:pt x="4919" y="1309270"/>
                    <a:pt x="0" y="1297393"/>
                    <a:pt x="0" y="1285009"/>
                  </a:cubicBezTo>
                  <a:lnTo>
                    <a:pt x="0" y="46693"/>
                  </a:lnTo>
                  <a:cubicBezTo>
                    <a:pt x="0" y="34309"/>
                    <a:pt x="4919" y="22433"/>
                    <a:pt x="13676" y="13676"/>
                  </a:cubicBezTo>
                  <a:cubicBezTo>
                    <a:pt x="22433" y="4919"/>
                    <a:pt x="34309" y="0"/>
                    <a:pt x="46693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ED0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0" y="-38100"/>
              <a:ext cx="43668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4082423" y="4407997"/>
            <a:ext cx="979234" cy="393786"/>
            <a:chOff x="0" y="-57150"/>
            <a:chExt cx="1152718" cy="46355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1152718" cy="406400"/>
            </a:xfrm>
            <a:custGeom>
              <a:rect b="b" l="l" r="r" t="t"/>
              <a:pathLst>
                <a:path extrusionOk="0" h="406400" w="1152718">
                  <a:moveTo>
                    <a:pt x="949518" y="0"/>
                  </a:moveTo>
                  <a:cubicBezTo>
                    <a:pt x="1061742" y="0"/>
                    <a:pt x="1152718" y="90976"/>
                    <a:pt x="1152718" y="203200"/>
                  </a:cubicBezTo>
                  <a:cubicBezTo>
                    <a:pt x="1152718" y="315424"/>
                    <a:pt x="1061742" y="406400"/>
                    <a:pt x="9495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ED0DA"/>
                </a:gs>
                <a:gs pos="100000">
                  <a:srgbClr val="20D5A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0" y="-57150"/>
              <a:ext cx="11526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5"/>
          <p:cNvSpPr txBox="1"/>
          <p:nvPr/>
        </p:nvSpPr>
        <p:spPr>
          <a:xfrm>
            <a:off x="4194116" y="4539457"/>
            <a:ext cx="755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PAGE 3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60" l="0" r="0" t="-670"/>
            </a:stretch>
          </a:blipFill>
          <a:ln>
            <a:noFill/>
          </a:ln>
        </p:spPr>
      </p:sp>
      <p:grpSp>
        <p:nvGrpSpPr>
          <p:cNvPr id="137" name="Google Shape;137;p16"/>
          <p:cNvGrpSpPr/>
          <p:nvPr/>
        </p:nvGrpSpPr>
        <p:grpSpPr>
          <a:xfrm>
            <a:off x="0" y="1552737"/>
            <a:ext cx="3123461" cy="2686433"/>
            <a:chOff x="0" y="-38100"/>
            <a:chExt cx="832923" cy="6750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832923" cy="636851"/>
            </a:xfrm>
            <a:custGeom>
              <a:rect b="b" l="l" r="r" t="t"/>
              <a:pathLst>
                <a:path extrusionOk="0" h="636851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0ECB99"/>
            </a:solidFill>
            <a:ln>
              <a:noFill/>
            </a:ln>
          </p:spPr>
        </p:sp>
        <p:sp>
          <p:nvSpPr>
            <p:cNvPr id="139" name="Google Shape;139;p16"/>
            <p:cNvSpPr txBox="1"/>
            <p:nvPr/>
          </p:nvSpPr>
          <p:spPr>
            <a:xfrm>
              <a:off x="0" y="-38100"/>
              <a:ext cx="8328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5928963" y="1552737"/>
            <a:ext cx="3215250" cy="2686433"/>
            <a:chOff x="0" y="-38100"/>
            <a:chExt cx="857400" cy="6750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857344" cy="636851"/>
            </a:xfrm>
            <a:custGeom>
              <a:rect b="b" l="l" r="r" t="t"/>
              <a:pathLst>
                <a:path extrusionOk="0" h="636851" w="857344">
                  <a:moveTo>
                    <a:pt x="0" y="0"/>
                  </a:moveTo>
                  <a:lnTo>
                    <a:pt x="857344" y="0"/>
                  </a:lnTo>
                  <a:lnTo>
                    <a:pt x="857344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5176FF"/>
            </a:solidFill>
            <a:ln>
              <a:noFill/>
            </a:ln>
          </p:spPr>
        </p:sp>
        <p:sp>
          <p:nvSpPr>
            <p:cNvPr id="142" name="Google Shape;142;p16"/>
            <p:cNvSpPr txBox="1"/>
            <p:nvPr/>
          </p:nvSpPr>
          <p:spPr>
            <a:xfrm>
              <a:off x="0" y="-38100"/>
              <a:ext cx="8574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1979015" y="574844"/>
            <a:ext cx="4964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0ECB99"/>
                </a:solidFill>
                <a:latin typeface="Arial"/>
                <a:ea typeface="Arial"/>
                <a:cs typeface="Arial"/>
                <a:sym typeface="Arial"/>
              </a:rPr>
              <a:t>How IoT Works</a:t>
            </a:r>
            <a:endParaRPr sz="3500"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3048000" y="1552749"/>
            <a:ext cx="3048000" cy="2686432"/>
            <a:chOff x="0" y="-38100"/>
            <a:chExt cx="812800" cy="6750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812800" cy="636851"/>
            </a:xfrm>
            <a:custGeom>
              <a:rect b="b" l="l" r="r" t="t"/>
              <a:pathLst>
                <a:path extrusionOk="0" h="6368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36851"/>
                  </a:lnTo>
                  <a:lnTo>
                    <a:pt x="0" y="636851"/>
                  </a:lnTo>
                  <a:close/>
                </a:path>
              </a:pathLst>
            </a:custGeom>
            <a:solidFill>
              <a:srgbClr val="0ED0DA"/>
            </a:solidFill>
            <a:ln>
              <a:noFill/>
            </a:ln>
          </p:spPr>
        </p:sp>
        <p:sp>
          <p:nvSpPr>
            <p:cNvPr id="146" name="Google Shape;146;p16"/>
            <p:cNvSpPr txBox="1"/>
            <p:nvPr/>
          </p:nvSpPr>
          <p:spPr>
            <a:xfrm>
              <a:off x="0" y="-38100"/>
              <a:ext cx="8127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6"/>
          <p:cNvSpPr txBox="1"/>
          <p:nvPr/>
        </p:nvSpPr>
        <p:spPr>
          <a:xfrm>
            <a:off x="277742" y="2761541"/>
            <a:ext cx="24927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 sz="1100"/>
          </a:p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Sensors detect physical data — temperature, motion, light, humidity. Smart thermostat reads room temperature and environmental conditions in real time.</a:t>
            </a:r>
            <a:endParaRPr sz="1100"/>
          </a:p>
        </p:txBody>
      </p:sp>
      <p:sp>
        <p:nvSpPr>
          <p:cNvPr id="148" name="Google Shape;148;p16"/>
          <p:cNvSpPr txBox="1"/>
          <p:nvPr/>
        </p:nvSpPr>
        <p:spPr>
          <a:xfrm>
            <a:off x="3325742" y="2733813"/>
            <a:ext cx="24927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&amp; PROCESS</a:t>
            </a:r>
            <a:endParaRPr sz="1100"/>
          </a:p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transmitted via Wi-Fi, Zigbee, LoRaWAN, or 5G. Edge or cloud platform analyzes the incoming sensor data stream instantly.</a:t>
            </a:r>
            <a:endParaRPr sz="1100"/>
          </a:p>
        </p:txBody>
      </p:sp>
      <p:sp>
        <p:nvSpPr>
          <p:cNvPr id="149" name="Google Shape;149;p16"/>
          <p:cNvSpPr txBox="1"/>
          <p:nvPr/>
        </p:nvSpPr>
        <p:spPr>
          <a:xfrm>
            <a:off x="6373742" y="2713017"/>
            <a:ext cx="24927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sz="1100"/>
          </a:p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response triggered — thermostat adjusts heating, alert sent to app. System responds without human intervention, closing the IoT loop.</a:t>
            </a:r>
            <a:endParaRPr sz="1100"/>
          </a:p>
        </p:txBody>
      </p:sp>
      <p:sp>
        <p:nvSpPr>
          <p:cNvPr id="150" name="Google Shape;150;p16"/>
          <p:cNvSpPr txBox="1"/>
          <p:nvPr/>
        </p:nvSpPr>
        <p:spPr>
          <a:xfrm>
            <a:off x="277742" y="1732592"/>
            <a:ext cx="124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700"/>
          </a:p>
        </p:txBody>
      </p:sp>
      <p:sp>
        <p:nvSpPr>
          <p:cNvPr id="151" name="Google Shape;151;p16"/>
          <p:cNvSpPr txBox="1"/>
          <p:nvPr/>
        </p:nvSpPr>
        <p:spPr>
          <a:xfrm>
            <a:off x="3325742" y="1725660"/>
            <a:ext cx="124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700"/>
          </a:p>
        </p:txBody>
      </p:sp>
      <p:sp>
        <p:nvSpPr>
          <p:cNvPr id="152" name="Google Shape;152;p16"/>
          <p:cNvSpPr txBox="1"/>
          <p:nvPr/>
        </p:nvSpPr>
        <p:spPr>
          <a:xfrm>
            <a:off x="6433909" y="1746456"/>
            <a:ext cx="124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BF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700"/>
          </a:p>
        </p:txBody>
      </p:sp>
      <p:grpSp>
        <p:nvGrpSpPr>
          <p:cNvPr id="153" name="Google Shape;153;p16"/>
          <p:cNvGrpSpPr/>
          <p:nvPr/>
        </p:nvGrpSpPr>
        <p:grpSpPr>
          <a:xfrm>
            <a:off x="426897" y="4556817"/>
            <a:ext cx="8290478" cy="2600569"/>
            <a:chOff x="0" y="-38100"/>
            <a:chExt cx="4366857" cy="1369802"/>
          </a:xfrm>
        </p:grpSpPr>
        <p:sp>
          <p:nvSpPr>
            <p:cNvPr id="154" name="Google Shape;154;p16"/>
            <p:cNvSpPr/>
            <p:nvPr/>
          </p:nvSpPr>
          <p:spPr>
            <a:xfrm>
              <a:off x="0" y="0"/>
              <a:ext cx="4366857" cy="1331702"/>
            </a:xfrm>
            <a:custGeom>
              <a:rect b="b" l="l" r="r" t="t"/>
              <a:pathLst>
                <a:path extrusionOk="0" h="1331702" w="4366857">
                  <a:moveTo>
                    <a:pt x="46693" y="0"/>
                  </a:moveTo>
                  <a:lnTo>
                    <a:pt x="4320164" y="0"/>
                  </a:lnTo>
                  <a:cubicBezTo>
                    <a:pt x="4332548" y="0"/>
                    <a:pt x="4344424" y="4919"/>
                    <a:pt x="4353181" y="13676"/>
                  </a:cubicBezTo>
                  <a:cubicBezTo>
                    <a:pt x="4361938" y="22433"/>
                    <a:pt x="4366857" y="34309"/>
                    <a:pt x="4366857" y="46693"/>
                  </a:cubicBezTo>
                  <a:lnTo>
                    <a:pt x="4366857" y="1285009"/>
                  </a:lnTo>
                  <a:cubicBezTo>
                    <a:pt x="4366857" y="1297393"/>
                    <a:pt x="4361938" y="1309270"/>
                    <a:pt x="4353181" y="1318026"/>
                  </a:cubicBezTo>
                  <a:cubicBezTo>
                    <a:pt x="4344424" y="1326783"/>
                    <a:pt x="4332548" y="1331702"/>
                    <a:pt x="4320164" y="1331702"/>
                  </a:cubicBezTo>
                  <a:lnTo>
                    <a:pt x="46693" y="1331702"/>
                  </a:lnTo>
                  <a:cubicBezTo>
                    <a:pt x="34309" y="1331702"/>
                    <a:pt x="22433" y="1326783"/>
                    <a:pt x="13676" y="1318026"/>
                  </a:cubicBezTo>
                  <a:cubicBezTo>
                    <a:pt x="4919" y="1309270"/>
                    <a:pt x="0" y="1297393"/>
                    <a:pt x="0" y="1285009"/>
                  </a:cubicBezTo>
                  <a:lnTo>
                    <a:pt x="0" y="46693"/>
                  </a:lnTo>
                  <a:cubicBezTo>
                    <a:pt x="0" y="34309"/>
                    <a:pt x="4919" y="22433"/>
                    <a:pt x="13676" y="13676"/>
                  </a:cubicBezTo>
                  <a:cubicBezTo>
                    <a:pt x="22433" y="4919"/>
                    <a:pt x="34309" y="0"/>
                    <a:pt x="46693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ED0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0" y="-38100"/>
              <a:ext cx="43668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4082423" y="4407997"/>
            <a:ext cx="979234" cy="393786"/>
            <a:chOff x="0" y="-57150"/>
            <a:chExt cx="1152718" cy="46355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1152718" cy="406400"/>
            </a:xfrm>
            <a:custGeom>
              <a:rect b="b" l="l" r="r" t="t"/>
              <a:pathLst>
                <a:path extrusionOk="0" h="406400" w="1152718">
                  <a:moveTo>
                    <a:pt x="949518" y="0"/>
                  </a:moveTo>
                  <a:cubicBezTo>
                    <a:pt x="1061742" y="0"/>
                    <a:pt x="1152718" y="90976"/>
                    <a:pt x="1152718" y="203200"/>
                  </a:cubicBezTo>
                  <a:cubicBezTo>
                    <a:pt x="1152718" y="315424"/>
                    <a:pt x="1061742" y="406400"/>
                    <a:pt x="9495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ED0DA"/>
                </a:gs>
                <a:gs pos="100000">
                  <a:srgbClr val="20D5A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0" y="-57150"/>
              <a:ext cx="11526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6"/>
          <p:cNvSpPr txBox="1"/>
          <p:nvPr/>
        </p:nvSpPr>
        <p:spPr>
          <a:xfrm>
            <a:off x="4194116" y="4539457"/>
            <a:ext cx="755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0E0E"/>
                </a:solidFill>
                <a:latin typeface="Arial"/>
                <a:ea typeface="Arial"/>
                <a:cs typeface="Arial"/>
                <a:sym typeface="Arial"/>
              </a:rPr>
              <a:t>PAGE 4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